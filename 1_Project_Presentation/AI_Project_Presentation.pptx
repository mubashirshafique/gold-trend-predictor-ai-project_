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5" r:id="rId9"/>
    <p:sldId id="260" r:id="rId10"/>
    <p:sldId id="266" r:id="rId11"/>
    <p:sldId id="263" r:id="rId12"/>
    <p:sldId id="267" r:id="rId13"/>
    <p:sldId id="268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2/22/2026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2/22/2026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2/22/2026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10" Type="http://schemas.openxmlformats.org/officeDocument/2006/relationships/image" Target="../media/image15.svg"/><Relationship Id="rId4" Type="http://schemas.openxmlformats.org/officeDocument/2006/relationships/image" Target="../media/image12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sv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image" Target="../media/image10.svg"/><Relationship Id="rId10" Type="http://schemas.openxmlformats.org/officeDocument/2006/relationships/image" Target="../media/image7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A56C-7A25-4BD4-AA72-5256E68BE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4321" y="1375719"/>
            <a:ext cx="8637073" cy="1509583"/>
          </a:xfrm>
        </p:spPr>
        <p:txBody>
          <a:bodyPr>
            <a:normAutofit/>
          </a:bodyPr>
          <a:lstStyle/>
          <a:p>
            <a:pPr algn="ctr"/>
            <a:r>
              <a:rPr lang="en-GB" sz="4000" b="1" cap="none" dirty="0" smtClean="0">
                <a:latin typeface="Bahnschrift Light SemiCondensed" panose="020B0502040204020203" pitchFamily="34" charset="0"/>
              </a:rPr>
              <a:t>Gold Trend Predictor</a:t>
            </a:r>
            <a:endParaRPr lang="en-US" sz="4000" b="1" cap="none" dirty="0">
              <a:latin typeface="Bahnschrift Light Semi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5616" y="3616353"/>
            <a:ext cx="8637072" cy="977621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 err="1" smtClean="0"/>
              <a:t>Meraj</a:t>
            </a:r>
            <a:r>
              <a:rPr lang="en-US" sz="2000" b="1" dirty="0" smtClean="0"/>
              <a:t> </a:t>
            </a:r>
          </a:p>
          <a:p>
            <a:pPr algn="ctr"/>
            <a:r>
              <a:rPr lang="en-US" sz="2000" b="1" dirty="0" smtClean="0"/>
              <a:t>Usman</a:t>
            </a:r>
          </a:p>
          <a:p>
            <a:pPr algn="ctr"/>
            <a:r>
              <a:rPr lang="en-US" sz="2000" b="1" dirty="0" smtClean="0"/>
              <a:t>Mubashir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073" y="1309816"/>
            <a:ext cx="2306537" cy="230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sz="4000" cap="none" dirty="0" smtClean="0"/>
              <a:t>Problem Statement</a:t>
            </a:r>
            <a:endParaRPr lang="en-US" sz="4000" cap="none" dirty="0"/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62651"/>
            <a:ext cx="9603275" cy="3450613"/>
          </a:xfrm>
        </p:spPr>
        <p:txBody>
          <a:bodyPr/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GB" b="1" dirty="0"/>
              <a:t>Price Volatility:</a:t>
            </a:r>
            <a:r>
              <a:rPr lang="en-GB" dirty="0"/>
              <a:t> Gold prices change rapidly, making it hard to predict trends</a:t>
            </a:r>
            <a:r>
              <a:rPr lang="en-GB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Investor Confusion:</a:t>
            </a:r>
            <a:r>
              <a:rPr lang="en-GB" dirty="0"/>
              <a:t> People struggle to decide when to buy or sell gold</a:t>
            </a:r>
            <a:r>
              <a:rPr lang="en-GB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High Risk:</a:t>
            </a:r>
            <a:r>
              <a:rPr lang="en-GB" dirty="0"/>
              <a:t> Without data, investors make wrong guesses and face losses</a:t>
            </a:r>
            <a:r>
              <a:rPr lang="en-GB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Our Solution:</a:t>
            </a:r>
            <a:r>
              <a:rPr lang="en-GB" dirty="0"/>
              <a:t> An </a:t>
            </a:r>
            <a:r>
              <a:rPr lang="en-GB" b="1" dirty="0"/>
              <a:t>Android App</a:t>
            </a:r>
            <a:r>
              <a:rPr lang="en-GB" dirty="0"/>
              <a:t> that predicts if the price will go </a:t>
            </a:r>
            <a:r>
              <a:rPr lang="en-GB" b="1" dirty="0"/>
              <a:t>UP</a:t>
            </a:r>
            <a:r>
              <a:rPr lang="en-GB" dirty="0"/>
              <a:t> or </a:t>
            </a:r>
            <a:r>
              <a:rPr lang="en-GB" b="1" dirty="0"/>
              <a:t>DOWN</a:t>
            </a:r>
            <a:r>
              <a:rPr lang="en-GB" dirty="0"/>
              <a:t> using Machine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sz="4000" cap="none" dirty="0" smtClean="0"/>
              <a:t>Team Roles &amp; Responsibilities</a:t>
            </a:r>
            <a:endParaRPr lang="en-US" sz="4000" cap="none" dirty="0"/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b="1" dirty="0" err="1"/>
              <a:t>Meraj</a:t>
            </a:r>
            <a:r>
              <a:rPr lang="en-GB" b="1" dirty="0"/>
              <a:t> 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  <a:r>
              <a:rPr lang="en-GB" dirty="0"/>
              <a:t>Responsible for data gathering, cleaning, and </a:t>
            </a:r>
            <a:r>
              <a:rPr lang="en-GB" dirty="0" smtClean="0"/>
              <a:t>pre-processing </a:t>
            </a:r>
            <a:r>
              <a:rPr lang="en-GB" dirty="0"/>
              <a:t>to ensure high-quality input</a:t>
            </a:r>
            <a:r>
              <a:rPr lang="en-GB" dirty="0" smtClean="0"/>
              <a:t>.</a:t>
            </a:r>
          </a:p>
          <a:p>
            <a:pPr lvl="0"/>
            <a:r>
              <a:rPr lang="en-GB" b="1" dirty="0"/>
              <a:t>Usman </a:t>
            </a:r>
            <a:r>
              <a:rPr lang="en-GB" b="1" dirty="0" smtClean="0"/>
              <a:t>Khan :</a:t>
            </a:r>
            <a:r>
              <a:rPr lang="en-GB" dirty="0" smtClean="0"/>
              <a:t> </a:t>
            </a:r>
            <a:r>
              <a:rPr lang="en-GB" dirty="0"/>
              <a:t>Focuses on training multiple models and selecting the best one with the highest accuracy</a:t>
            </a:r>
            <a:r>
              <a:rPr lang="en-GB" dirty="0" smtClean="0"/>
              <a:t>.</a:t>
            </a:r>
          </a:p>
          <a:p>
            <a:pPr lvl="0"/>
            <a:r>
              <a:rPr lang="en-GB" b="1" dirty="0"/>
              <a:t>Mubashir 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  <a:r>
              <a:rPr lang="en-GB" dirty="0"/>
              <a:t>Responsible for building the DVC pipeline, developing the </a:t>
            </a:r>
            <a:r>
              <a:rPr lang="en-GB" dirty="0" err="1"/>
              <a:t>FastAPI</a:t>
            </a:r>
            <a:r>
              <a:rPr lang="en-GB" dirty="0"/>
              <a:t>, and integrating the model into the Android App.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>
            <a:normAutofit/>
          </a:bodyPr>
          <a:lstStyle/>
          <a:p>
            <a:r>
              <a:rPr lang="en-GB" sz="4000" cap="none" dirty="0" smtClean="0"/>
              <a:t>Member: </a:t>
            </a:r>
            <a:r>
              <a:rPr lang="en-GB" sz="4000" cap="none" dirty="0" err="1" smtClean="0"/>
              <a:t>Meraj</a:t>
            </a:r>
            <a:r>
              <a:rPr lang="en-GB" sz="4000" cap="none" dirty="0" smtClean="0"/>
              <a:t> </a:t>
            </a:r>
            <a:endParaRPr lang="en-US" sz="4000" cap="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92754"/>
            <a:ext cx="9603275" cy="3450613"/>
          </a:xfrm>
        </p:spPr>
        <p:txBody>
          <a:bodyPr/>
          <a:lstStyle/>
          <a:p>
            <a:pPr marL="0" lvl="0" indent="0">
              <a:buNone/>
            </a:pPr>
            <a:r>
              <a:rPr lang="en-GB" b="1" dirty="0"/>
              <a:t>Tools:</a:t>
            </a:r>
            <a:r>
              <a:rPr lang="en-GB" dirty="0"/>
              <a:t> Python | </a:t>
            </a:r>
            <a:r>
              <a:rPr lang="en-GB" dirty="0" err="1"/>
              <a:t>yfinance</a:t>
            </a:r>
            <a:r>
              <a:rPr lang="en-GB" dirty="0"/>
              <a:t> | Pandas | </a:t>
            </a:r>
            <a:r>
              <a:rPr lang="en-GB" dirty="0" err="1"/>
              <a:t>Scikit</a:t>
            </a:r>
            <a:r>
              <a:rPr lang="en-GB" dirty="0"/>
              <a:t>-learn</a:t>
            </a:r>
            <a:endParaRPr lang="en-US" dirty="0" smtClean="0"/>
          </a:p>
          <a:p>
            <a:pPr lvl="0"/>
            <a:endParaRPr lang="en-US" dirty="0"/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GB" b="1" dirty="0" smtClean="0"/>
              <a:t>Where </a:t>
            </a:r>
            <a:r>
              <a:rPr lang="en-GB" b="1" dirty="0"/>
              <a:t>did data come from</a:t>
            </a:r>
            <a:r>
              <a:rPr lang="en-GB" b="1" dirty="0" smtClean="0"/>
              <a:t>?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GB" b="1" dirty="0"/>
              <a:t>Source:</a:t>
            </a:r>
            <a:r>
              <a:rPr lang="en-GB" dirty="0"/>
              <a:t> Collected 26 years of Gold price data (2000 – Jan 2026</a:t>
            </a:r>
            <a:r>
              <a:rPr lang="en-GB" dirty="0" smtClean="0"/>
              <a:t>).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GB" b="1" dirty="0"/>
              <a:t>Library:  </a:t>
            </a:r>
            <a:r>
              <a:rPr lang="en-GB" dirty="0" smtClean="0"/>
              <a:t>Used </a:t>
            </a:r>
            <a:r>
              <a:rPr lang="en-GB" dirty="0" err="1" smtClean="0"/>
              <a:t>yfinance</a:t>
            </a:r>
            <a:r>
              <a:rPr lang="en-GB" dirty="0" smtClean="0"/>
              <a:t> (Yahoo Finance) </a:t>
            </a:r>
            <a:r>
              <a:rPr lang="en-GB" dirty="0"/>
              <a:t>for real-time and historical market data.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0659">
            <a:off x="7807647" y="1913515"/>
            <a:ext cx="1828802" cy="12192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17490">
            <a:off x="8361404" y="334039"/>
            <a:ext cx="2206277" cy="6238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048" y="100618"/>
            <a:ext cx="919548" cy="9195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6033">
            <a:off x="9634977" y="1518099"/>
            <a:ext cx="2448760" cy="1530475"/>
          </a:xfrm>
          <a:prstGeom prst="rect">
            <a:avLst/>
          </a:prstGeom>
        </p:spPr>
      </p:pic>
      <p:pic>
        <p:nvPicPr>
          <p:cNvPr id="11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266" y="956426"/>
            <a:ext cx="286321" cy="286321"/>
          </a:xfrm>
          <a:prstGeom prst="rect">
            <a:avLst/>
          </a:prstGeom>
        </p:spPr>
      </p:pic>
      <p:pic>
        <p:nvPicPr>
          <p:cNvPr id="12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799" y="1709099"/>
            <a:ext cx="296562" cy="29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3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0389" y="659027"/>
            <a:ext cx="9885406" cy="468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900" b="1" dirty="0" smtClean="0">
                <a:solidFill>
                  <a:schemeClr val="accent1"/>
                </a:solidFill>
              </a:rPr>
              <a:t>2. </a:t>
            </a:r>
            <a:r>
              <a:rPr lang="en-GB" b="1" dirty="0"/>
              <a:t>Feature Engineering (Making the data smart</a:t>
            </a:r>
            <a:r>
              <a:rPr lang="en-GB" b="1" dirty="0" smtClean="0"/>
              <a:t>):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/>
              <a:t>Technical Indicators:</a:t>
            </a:r>
            <a:r>
              <a:rPr lang="en-GB" dirty="0"/>
              <a:t> Created 10+ key features for better prediction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/>
              <a:t>Trend Analysis:</a:t>
            </a:r>
            <a:r>
              <a:rPr lang="en-GB" dirty="0"/>
              <a:t> Calculated </a:t>
            </a:r>
            <a:r>
              <a:rPr lang="en-GB" b="1" dirty="0"/>
              <a:t>7-day &amp; 30-day averages</a:t>
            </a:r>
            <a:r>
              <a:rPr lang="en-GB" dirty="0"/>
              <a:t> to see price trends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/>
              <a:t>Market Signals:</a:t>
            </a:r>
            <a:r>
              <a:rPr lang="en-GB" dirty="0"/>
              <a:t> Added </a:t>
            </a:r>
            <a:r>
              <a:rPr lang="en-GB" b="1" dirty="0"/>
              <a:t>Momentum, Volatility,</a:t>
            </a:r>
            <a:r>
              <a:rPr lang="en-GB" dirty="0"/>
              <a:t> and </a:t>
            </a:r>
            <a:r>
              <a:rPr lang="en-GB" b="1" dirty="0"/>
              <a:t>Z-scores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GB" b="1" dirty="0"/>
              <a:t>Target:</a:t>
            </a:r>
            <a:r>
              <a:rPr lang="en-GB" dirty="0"/>
              <a:t> Defined </a:t>
            </a:r>
            <a:r>
              <a:rPr lang="en-GB" dirty="0" smtClean="0"/>
              <a:t>trend signal </a:t>
            </a:r>
            <a:r>
              <a:rPr lang="en-GB" dirty="0"/>
              <a:t>(1 = Price Up, 0 = Price Down</a:t>
            </a:r>
            <a:r>
              <a:rPr lang="en-GB" dirty="0" smtClean="0"/>
              <a:t>).</a:t>
            </a: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q"/>
            </a:pPr>
            <a:endParaRPr lang="en-US" dirty="0" smtClean="0"/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b="1" dirty="0">
                <a:solidFill>
                  <a:schemeClr val="accent1"/>
                </a:solidFill>
              </a:rPr>
              <a:t>3. </a:t>
            </a:r>
            <a:r>
              <a:rPr lang="en-GB" b="1" dirty="0"/>
              <a:t>Data Quality &amp; </a:t>
            </a:r>
            <a:r>
              <a:rPr lang="en-GB" b="1" dirty="0" smtClean="0"/>
              <a:t>Pre-processing </a:t>
            </a:r>
            <a:r>
              <a:rPr lang="en-GB" b="1" dirty="0"/>
              <a:t>(Cleaning the mess</a:t>
            </a:r>
            <a:r>
              <a:rPr lang="en-GB" b="1" dirty="0" smtClean="0"/>
              <a:t>):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Cleaning:</a:t>
            </a:r>
            <a:r>
              <a:rPr lang="en-GB" dirty="0"/>
              <a:t> Handled missing values (nulls) and removed outliers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Normalization:</a:t>
            </a:r>
            <a:r>
              <a:rPr lang="en-GB" dirty="0"/>
              <a:t> Applied </a:t>
            </a:r>
            <a:r>
              <a:rPr lang="en-GB" b="1" dirty="0"/>
              <a:t>Standard Scaling</a:t>
            </a:r>
            <a:r>
              <a:rPr lang="en-GB" dirty="0"/>
              <a:t> so all features have equal weight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Result:</a:t>
            </a:r>
            <a:r>
              <a:rPr lang="en-GB" dirty="0"/>
              <a:t> Exported a clean, high-quality dataset for model training.</a:t>
            </a:r>
            <a:endParaRPr lang="en-GB" dirty="0" smtClean="0"/>
          </a:p>
          <a:p>
            <a:pPr>
              <a:buClr>
                <a:schemeClr val="accent1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58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978-9605-417C-951F-53F4926C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>
            <a:noAutofit/>
          </a:bodyPr>
          <a:lstStyle/>
          <a:p>
            <a:r>
              <a:rPr lang="en-US" sz="4000" cap="none" dirty="0" smtClean="0"/>
              <a:t>Member : Usman</a:t>
            </a:r>
            <a:endParaRPr lang="en-US" sz="4000" cap="none" dirty="0"/>
          </a:p>
        </p:txBody>
      </p:sp>
      <p:sp>
        <p:nvSpPr>
          <p:cNvPr id="8" name="TextBox 7"/>
          <p:cNvSpPr txBox="1"/>
          <p:nvPr/>
        </p:nvSpPr>
        <p:spPr>
          <a:xfrm>
            <a:off x="1290909" y="1664043"/>
            <a:ext cx="7021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Tools:</a:t>
            </a:r>
            <a:r>
              <a:rPr lang="en-GB" dirty="0"/>
              <a:t> </a:t>
            </a:r>
            <a:r>
              <a:rPr lang="en-GB" dirty="0" err="1"/>
              <a:t>Matplotlib</a:t>
            </a:r>
            <a:r>
              <a:rPr lang="en-GB" dirty="0"/>
              <a:t> | </a:t>
            </a:r>
            <a:r>
              <a:rPr lang="en-GB" dirty="0" err="1"/>
              <a:t>Seaborn</a:t>
            </a:r>
            <a:r>
              <a:rPr lang="en-GB" dirty="0"/>
              <a:t> | </a:t>
            </a:r>
            <a:r>
              <a:rPr lang="en-GB" dirty="0" err="1"/>
              <a:t>Scikit</a:t>
            </a:r>
            <a:r>
              <a:rPr lang="en-GB" dirty="0"/>
              <a:t>-learn | </a:t>
            </a:r>
            <a:r>
              <a:rPr lang="en-GB" dirty="0" err="1"/>
              <a:t>XGBoost</a:t>
            </a:r>
            <a:r>
              <a:rPr lang="en-GB" dirty="0"/>
              <a:t> | </a:t>
            </a:r>
            <a:r>
              <a:rPr lang="en-GB" dirty="0" err="1"/>
              <a:t>LightGBM</a:t>
            </a:r>
            <a:endParaRPr lang="en-GB" dirty="0"/>
          </a:p>
        </p:txBody>
      </p:sp>
      <p:pic>
        <p:nvPicPr>
          <p:cNvPr id="10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6" y="1711297"/>
            <a:ext cx="296562" cy="2965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146" y="3396153"/>
            <a:ext cx="2315371" cy="13678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113" y="535131"/>
            <a:ext cx="1545329" cy="36856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6033">
            <a:off x="9519028" y="3058575"/>
            <a:ext cx="2448760" cy="15304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745" y="1729613"/>
            <a:ext cx="1660063" cy="5810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157" y="4764003"/>
            <a:ext cx="2160336" cy="4871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6639" y="2438400"/>
            <a:ext cx="7215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1"/>
                </a:solidFill>
              </a:rPr>
              <a:t>1.</a:t>
            </a:r>
            <a:r>
              <a:rPr lang="en-GB" b="1" dirty="0" smtClean="0"/>
              <a:t>Data </a:t>
            </a:r>
            <a:r>
              <a:rPr lang="en-GB" b="1" dirty="0"/>
              <a:t>Visualization &amp; </a:t>
            </a:r>
            <a:r>
              <a:rPr lang="en-GB" b="1" dirty="0" smtClean="0"/>
              <a:t>Insights:</a:t>
            </a:r>
          </a:p>
          <a:p>
            <a:endParaRPr lang="en-GB" dirty="0" smtClean="0"/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GB" b="1" dirty="0"/>
              <a:t>EDA:</a:t>
            </a:r>
            <a:r>
              <a:rPr lang="en-GB" dirty="0"/>
              <a:t> Used </a:t>
            </a:r>
            <a:r>
              <a:rPr lang="en-GB" b="1" dirty="0" err="1"/>
              <a:t>Matplotlib</a:t>
            </a:r>
            <a:r>
              <a:rPr lang="en-GB" dirty="0"/>
              <a:t> and </a:t>
            </a:r>
            <a:r>
              <a:rPr lang="en-GB" b="1" dirty="0" err="1"/>
              <a:t>Seaborn</a:t>
            </a:r>
            <a:r>
              <a:rPr lang="en-GB" dirty="0"/>
              <a:t> to create charts and identify price trends</a:t>
            </a:r>
            <a:r>
              <a:rPr lang="en-GB" dirty="0" smtClean="0"/>
              <a:t>.</a:t>
            </a:r>
          </a:p>
          <a:p>
            <a:pPr>
              <a:buClr>
                <a:schemeClr val="accent1"/>
              </a:buClr>
            </a:pPr>
            <a:endParaRPr lang="en-GB" dirty="0" smtClean="0"/>
          </a:p>
          <a:p>
            <a:pPr marL="285750" indent="-285750">
              <a:buClr>
                <a:schemeClr val="accent1"/>
              </a:buClr>
              <a:buFont typeface="Courier New" panose="02070309020205020404" pitchFamily="49" charset="0"/>
              <a:buChar char="o"/>
            </a:pPr>
            <a:r>
              <a:rPr lang="en-GB" b="1" dirty="0" smtClean="0"/>
              <a:t>Correlation</a:t>
            </a:r>
            <a:endParaRPr lang="en-GB" dirty="0"/>
          </a:p>
        </p:txBody>
      </p:sp>
      <p:pic>
        <p:nvPicPr>
          <p:cNvPr id="11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0266" y="956426"/>
            <a:ext cx="286321" cy="28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3211" y="313038"/>
            <a:ext cx="10643286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/>
                </a:solidFill>
              </a:rPr>
              <a:t>2.</a:t>
            </a:r>
            <a:r>
              <a:rPr lang="en-GB" b="1" dirty="0"/>
              <a:t> Model Training (The "Big 5" Algorithms</a:t>
            </a:r>
            <a:r>
              <a:rPr lang="en-GB" b="1" dirty="0" smtClean="0"/>
              <a:t>):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Trained </a:t>
            </a:r>
            <a:r>
              <a:rPr lang="en-GB" dirty="0"/>
              <a:t>and compared 5 top-tier classifiers to find the best predictor</a:t>
            </a:r>
            <a:r>
              <a:rPr lang="en-GB" dirty="0" smtClean="0"/>
              <a:t>:</a:t>
            </a:r>
            <a:endParaRPr lang="en-GB" dirty="0"/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GB" b="1" dirty="0" err="1" smtClean="0"/>
              <a:t>XGBoost</a:t>
            </a:r>
            <a:r>
              <a:rPr lang="en-GB" b="1" dirty="0"/>
              <a:t>:</a:t>
            </a:r>
            <a:r>
              <a:rPr lang="en-GB" dirty="0"/>
              <a:t> For high performance and handling complex </a:t>
            </a:r>
            <a:r>
              <a:rPr lang="en-GB" dirty="0" smtClean="0"/>
              <a:t>data.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GB" b="1" dirty="0" smtClean="0"/>
              <a:t>Random </a:t>
            </a:r>
            <a:r>
              <a:rPr lang="en-GB" b="1" dirty="0"/>
              <a:t>Forest:</a:t>
            </a:r>
            <a:r>
              <a:rPr lang="en-GB" dirty="0"/>
              <a:t> To prevent overfitting and ensure </a:t>
            </a:r>
            <a:r>
              <a:rPr lang="en-GB" dirty="0" smtClean="0"/>
              <a:t>stability.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GB" b="1" dirty="0" smtClean="0"/>
              <a:t>SVM</a:t>
            </a:r>
            <a:r>
              <a:rPr lang="en-GB" b="1" dirty="0"/>
              <a:t>:</a:t>
            </a:r>
            <a:r>
              <a:rPr lang="en-GB" dirty="0"/>
              <a:t> For finding the clear boundary between "Up" and "Down" </a:t>
            </a:r>
            <a:r>
              <a:rPr lang="en-GB" dirty="0" smtClean="0"/>
              <a:t>trends.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GB" b="1" dirty="0" smtClean="0"/>
              <a:t>Logistic </a:t>
            </a:r>
            <a:r>
              <a:rPr lang="en-GB" b="1" dirty="0"/>
              <a:t>Regression:</a:t>
            </a:r>
            <a:r>
              <a:rPr lang="en-GB" dirty="0"/>
              <a:t> Used as a strong baseline </a:t>
            </a:r>
            <a:r>
              <a:rPr lang="en-GB" dirty="0" smtClean="0"/>
              <a:t>model.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en-GB" b="1" dirty="0" err="1" smtClean="0"/>
              <a:t>LightGBM</a:t>
            </a:r>
            <a:r>
              <a:rPr lang="en-GB" b="1" dirty="0"/>
              <a:t>:</a:t>
            </a:r>
            <a:r>
              <a:rPr lang="en-GB" dirty="0"/>
              <a:t> For fast training and high efficiency.</a:t>
            </a:r>
          </a:p>
          <a:p>
            <a:endParaRPr lang="en-US" dirty="0"/>
          </a:p>
          <a:p>
            <a:endParaRPr lang="en-US" dirty="0" smtClean="0"/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/>
                </a:solidFill>
              </a:rPr>
              <a:t>3. </a:t>
            </a:r>
            <a:r>
              <a:rPr lang="en-GB" b="1" dirty="0"/>
              <a:t>Optimization &amp; Final </a:t>
            </a:r>
            <a:r>
              <a:rPr lang="en-GB" b="1" dirty="0" smtClean="0"/>
              <a:t>Result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b="1" dirty="0"/>
              <a:t>Fine-Tuning:</a:t>
            </a:r>
            <a:r>
              <a:rPr lang="en-GB" dirty="0"/>
              <a:t> Applied </a:t>
            </a:r>
            <a:r>
              <a:rPr lang="en-GB" b="1" dirty="0" err="1"/>
              <a:t>Hyperparameter</a:t>
            </a:r>
            <a:r>
              <a:rPr lang="en-GB" b="1" dirty="0"/>
              <a:t> Tuning</a:t>
            </a:r>
            <a:r>
              <a:rPr lang="en-GB" dirty="0"/>
              <a:t> to squeeze out every bit of accuracy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b="1" dirty="0"/>
              <a:t>Evaluation:</a:t>
            </a:r>
            <a:r>
              <a:rPr lang="en-GB" dirty="0"/>
              <a:t> Compared Accuracy, Precision, and Recall scores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b="1" dirty="0"/>
              <a:t>Delivery:</a:t>
            </a:r>
            <a:r>
              <a:rPr lang="en-GB" dirty="0"/>
              <a:t> Selected the "Champion Model" and handed it over to Mubashir.</a:t>
            </a:r>
          </a:p>
        </p:txBody>
      </p:sp>
    </p:spTree>
    <p:extLst>
      <p:ext uri="{BB962C8B-B14F-4D97-AF65-F5344CB8AC3E}">
        <p14:creationId xmlns:p14="http://schemas.microsoft.com/office/powerpoint/2010/main" val="287356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222A-0050-42E6-8C3E-86E3C365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>
            <a:noAutofit/>
          </a:bodyPr>
          <a:lstStyle/>
          <a:p>
            <a:r>
              <a:rPr lang="en-US" sz="4000" cap="none" dirty="0" smtClean="0"/>
              <a:t>Member: Mubashir</a:t>
            </a:r>
            <a:endParaRPr lang="en-US" sz="4000" cap="none" dirty="0"/>
          </a:p>
        </p:txBody>
      </p:sp>
      <p:pic>
        <p:nvPicPr>
          <p:cNvPr id="10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6" y="956426"/>
            <a:ext cx="286321" cy="286321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D5DDD4-B30F-43B5-9BA0-190CC29E96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5331" y="1557653"/>
            <a:ext cx="6870356" cy="649150"/>
          </a:xfrm>
        </p:spPr>
        <p:txBody>
          <a:bodyPr/>
          <a:lstStyle/>
          <a:p>
            <a:pPr marL="914400" lvl="2" indent="0">
              <a:buNone/>
            </a:pPr>
            <a:r>
              <a:rPr lang="en-GB" sz="1800" b="1" dirty="0"/>
              <a:t>Tools:</a:t>
            </a:r>
            <a:r>
              <a:rPr lang="en-GB" sz="1800" dirty="0"/>
              <a:t> DVC | </a:t>
            </a:r>
            <a:r>
              <a:rPr lang="en-GB" sz="1800" dirty="0" err="1"/>
              <a:t>FastAPI</a:t>
            </a:r>
            <a:r>
              <a:rPr lang="en-GB" sz="1800" dirty="0"/>
              <a:t> | Flutter | GitHub | Python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" name="Graphic 5" descr="Tools icon">
            <a:extLst>
              <a:ext uri="{FF2B5EF4-FFF2-40B4-BE49-F238E27FC236}">
                <a16:creationId xmlns:a16="http://schemas.microsoft.com/office/drawing/2014/main" id="{A0524D64-7C99-4DD6-A26E-C33BE01EC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699" y="1620681"/>
            <a:ext cx="296562" cy="2965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15970">
            <a:off x="7290295" y="218109"/>
            <a:ext cx="1161727" cy="11617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627" y="2587273"/>
            <a:ext cx="2366703" cy="43784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000" y="79481"/>
            <a:ext cx="1347084" cy="99063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49" y="4281263"/>
            <a:ext cx="1262067" cy="126206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17490">
            <a:off x="7407933" y="4432521"/>
            <a:ext cx="2206277" cy="6238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0266" y="2206802"/>
            <a:ext cx="743175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chemeClr val="accent1"/>
                </a:solidFill>
              </a:rPr>
              <a:t>1. </a:t>
            </a:r>
            <a:r>
              <a:rPr lang="en-GB" b="1" dirty="0" smtClean="0"/>
              <a:t>End-to-End </a:t>
            </a:r>
            <a:r>
              <a:rPr lang="en-GB" b="1" dirty="0" err="1"/>
              <a:t>MLOps</a:t>
            </a:r>
            <a:r>
              <a:rPr lang="en-GB" b="1" dirty="0"/>
              <a:t> Pipeline (DVC</a:t>
            </a:r>
            <a:r>
              <a:rPr lang="en-GB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GB" dirty="0" smtClean="0"/>
              <a:t>Built </a:t>
            </a:r>
            <a:r>
              <a:rPr lang="en-GB" dirty="0"/>
              <a:t>a robust </a:t>
            </a:r>
            <a:r>
              <a:rPr lang="en-GB" b="1" dirty="0"/>
              <a:t>DVC Pipeline</a:t>
            </a:r>
            <a:r>
              <a:rPr lang="en-GB" dirty="0"/>
              <a:t> to automate the entire workflow in 5 stages</a:t>
            </a:r>
            <a:r>
              <a:rPr lang="en-GB" dirty="0" smtClean="0"/>
              <a:t>: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en-GB" b="1" dirty="0"/>
              <a:t>Data Ingestion:</a:t>
            </a:r>
            <a:r>
              <a:rPr lang="en-GB" dirty="0"/>
              <a:t> Automatically fetching raw gold data</a:t>
            </a:r>
            <a:r>
              <a:rPr lang="en-GB" dirty="0" smtClean="0"/>
              <a:t>.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en-GB" b="1" dirty="0"/>
              <a:t>Data </a:t>
            </a:r>
            <a:r>
              <a:rPr lang="en-GB" b="1" dirty="0" err="1"/>
              <a:t>Preprocessing</a:t>
            </a:r>
            <a:r>
              <a:rPr lang="en-GB" b="1" dirty="0"/>
              <a:t>:</a:t>
            </a:r>
            <a:r>
              <a:rPr lang="en-GB" dirty="0"/>
              <a:t> Cleaning and handling missing values</a:t>
            </a:r>
            <a:r>
              <a:rPr lang="en-GB" dirty="0" smtClean="0"/>
              <a:t>.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en-GB" b="1" dirty="0"/>
              <a:t>Feature Engineering:</a:t>
            </a:r>
            <a:r>
              <a:rPr lang="en-GB" dirty="0"/>
              <a:t> Converting raw data into smart indicators</a:t>
            </a:r>
            <a:r>
              <a:rPr lang="en-GB" dirty="0" smtClean="0"/>
              <a:t>.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en-GB" b="1" dirty="0"/>
              <a:t>Model Building:</a:t>
            </a:r>
            <a:r>
              <a:rPr lang="en-GB" dirty="0"/>
              <a:t> Training the selected "Champion Model</a:t>
            </a:r>
            <a:r>
              <a:rPr lang="en-GB" dirty="0" smtClean="0"/>
              <a:t>.“</a:t>
            </a:r>
          </a:p>
          <a:p>
            <a:pPr marL="342900" indent="-342900">
              <a:lnSpc>
                <a:spcPct val="150000"/>
              </a:lnSpc>
              <a:buClr>
                <a:schemeClr val="accent1"/>
              </a:buClr>
              <a:buFont typeface="+mj-lt"/>
              <a:buAutoNum type="arabicParenR"/>
            </a:pPr>
            <a:r>
              <a:rPr lang="en-GB" b="1" dirty="0"/>
              <a:t>Model Evaluation:</a:t>
            </a:r>
            <a:r>
              <a:rPr lang="en-GB" dirty="0"/>
              <a:t> Testing performance before deployment.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41229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968" y="288324"/>
            <a:ext cx="106515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/>
                </a:solidFill>
              </a:rPr>
              <a:t>2. </a:t>
            </a:r>
            <a:r>
              <a:rPr lang="en-GB" b="1" dirty="0"/>
              <a:t>Backend &amp; </a:t>
            </a:r>
            <a:r>
              <a:rPr lang="en-GB" b="1" dirty="0" smtClean="0"/>
              <a:t>Integration: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GB" b="1" dirty="0" err="1"/>
              <a:t>FastAPI</a:t>
            </a:r>
            <a:r>
              <a:rPr lang="en-GB" b="1" dirty="0"/>
              <a:t>:</a:t>
            </a:r>
            <a:r>
              <a:rPr lang="en-GB" dirty="0"/>
              <a:t> Developed a high-performance API to serve the model's predictions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GB" b="1" dirty="0"/>
              <a:t>App Development:</a:t>
            </a:r>
            <a:r>
              <a:rPr lang="en-GB" dirty="0"/>
              <a:t> Built a cross-platform </a:t>
            </a:r>
            <a:r>
              <a:rPr lang="en-GB" b="1" dirty="0"/>
              <a:t>Android App using Flutter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GB" b="1" dirty="0"/>
              <a:t>Connection:</a:t>
            </a:r>
            <a:r>
              <a:rPr lang="en-GB" dirty="0"/>
              <a:t> Integrated the ML model with the mobile app for real-time "Up/Down" trend results</a:t>
            </a:r>
            <a:r>
              <a:rPr lang="en-GB" dirty="0" smtClean="0"/>
              <a:t>.</a:t>
            </a:r>
            <a:endParaRPr lang="en-US" dirty="0" smtClean="0"/>
          </a:p>
          <a:p>
            <a:pPr>
              <a:buClr>
                <a:schemeClr val="accent1"/>
              </a:buClr>
            </a:pPr>
            <a:endParaRPr lang="en-US" dirty="0"/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b="1" dirty="0" smtClean="0">
                <a:solidFill>
                  <a:schemeClr val="accent1"/>
                </a:solidFill>
              </a:rPr>
              <a:t>3. </a:t>
            </a:r>
            <a:r>
              <a:rPr lang="en-GB" b="1" dirty="0" smtClean="0"/>
              <a:t>Android </a:t>
            </a:r>
            <a:r>
              <a:rPr lang="en-GB" b="1" dirty="0"/>
              <a:t>App Interface (UI</a:t>
            </a:r>
            <a:r>
              <a:rPr lang="en-GB" b="1" dirty="0" smtClean="0"/>
              <a:t>) </a:t>
            </a:r>
          </a:p>
          <a:p>
            <a:pPr>
              <a:lnSpc>
                <a:spcPct val="150000"/>
              </a:lnSpc>
              <a:buClr>
                <a:schemeClr val="accent1"/>
              </a:buClr>
            </a:pPr>
            <a:r>
              <a:rPr lang="en-GB" dirty="0"/>
              <a:t>App Features</a:t>
            </a:r>
            <a:r>
              <a:rPr lang="en-GB" dirty="0" smtClean="0"/>
              <a:t>: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User-Friendly Design:</a:t>
            </a:r>
            <a:r>
              <a:rPr lang="en-GB" dirty="0"/>
              <a:t> Simple and clean interface for investors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Real-time Prediction:</a:t>
            </a:r>
            <a:r>
              <a:rPr lang="en-GB" dirty="0"/>
              <a:t> One-tap button to see if Gold will go </a:t>
            </a:r>
            <a:r>
              <a:rPr lang="en-GB" b="1" dirty="0"/>
              <a:t>UP</a:t>
            </a:r>
            <a:r>
              <a:rPr lang="en-GB" dirty="0"/>
              <a:t> or </a:t>
            </a:r>
            <a:r>
              <a:rPr lang="en-GB" b="1" dirty="0" smtClean="0"/>
              <a:t>DOWN</a:t>
            </a:r>
            <a:r>
              <a:rPr lang="en-GB" dirty="0"/>
              <a:t> </a:t>
            </a:r>
            <a:r>
              <a:rPr lang="en-US" dirty="0" smtClean="0"/>
              <a:t>Tomorrow.</a:t>
            </a:r>
            <a:endParaRPr lang="en-GB" dirty="0" smtClean="0"/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Accuracy Tracking:</a:t>
            </a:r>
            <a:r>
              <a:rPr lang="en-GB" dirty="0"/>
              <a:t> Displays the model's confidence in the current prediction</a:t>
            </a:r>
            <a:r>
              <a:rPr lang="en-GB" dirty="0" smtClean="0"/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b="1" dirty="0" smtClean="0"/>
              <a:t>Live News 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b="1" dirty="0" smtClean="0"/>
              <a:t>Graph of Recent 90 Days Trend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GB" b="1" dirty="0"/>
              <a:t>Fast Response:</a:t>
            </a:r>
            <a:r>
              <a:rPr lang="en-GB" dirty="0"/>
              <a:t> Optimized API calls for instant results.</a:t>
            </a:r>
            <a:endParaRPr lang="en-GB" b="1" dirty="0" smtClean="0"/>
          </a:p>
          <a:p>
            <a:pPr>
              <a:buClr>
                <a:schemeClr val="accent1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70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86" y="313037"/>
            <a:ext cx="2241776" cy="47326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623" y="337751"/>
            <a:ext cx="2280797" cy="48150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681" y="337751"/>
            <a:ext cx="2343231" cy="49468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109" y="337751"/>
            <a:ext cx="2335426" cy="49303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1367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42486" y="601362"/>
            <a:ext cx="62195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accent1"/>
                </a:solidFill>
              </a:rPr>
              <a:t>Thank You!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2486" y="2817341"/>
            <a:ext cx="719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rgbClr val="002060"/>
                </a:solidFill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My invention presentation_AAS_v5" id="{87E5ADC5-22B1-48B6-A377-CC62C9F76903}" vid="{35D6D025-A430-4CAD-B81F-81678F6B39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1DB373-C1A1-4924-9AF2-F0436820150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CFA01955-FFEB-4169-B0BF-D790410D62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9C8665-7E41-4E8E-957E-307F6F826A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0</TotalTime>
  <Words>651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Bahnschrift Light SemiCondensed</vt:lpstr>
      <vt:lpstr>Calibri</vt:lpstr>
      <vt:lpstr>Courier New</vt:lpstr>
      <vt:lpstr>Gill Sans MT</vt:lpstr>
      <vt:lpstr>Tahoma</vt:lpstr>
      <vt:lpstr>Wingdings</vt:lpstr>
      <vt:lpstr>Gallery</vt:lpstr>
      <vt:lpstr>Gold Trend Predictor</vt:lpstr>
      <vt:lpstr>Problem Statement</vt:lpstr>
      <vt:lpstr>Team Roles &amp; Responsibilities</vt:lpstr>
      <vt:lpstr>Member: Meraj </vt:lpstr>
      <vt:lpstr>PowerPoint Presentation</vt:lpstr>
      <vt:lpstr>Member : Usman</vt:lpstr>
      <vt:lpstr>PowerPoint Presentation</vt:lpstr>
      <vt:lpstr>Member: Mubashir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2026-02-21T11:01:12Z</dcterms:created>
  <dcterms:modified xsi:type="dcterms:W3CDTF">2026-02-22T14:04:02Z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